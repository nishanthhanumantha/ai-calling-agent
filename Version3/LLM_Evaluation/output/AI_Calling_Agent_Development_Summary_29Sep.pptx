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81BD"/>
                </a:solidFill>
                <a:latin typeface="Aptos"/>
              </a:rPr>
              <a:t>INTERNAL 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ptos"/>
              </a:rPr>
              <a:t>AI Calling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D6E6F5"/>
                </a:solidFill>
                <a:latin typeface="Aptos"/>
              </a:rPr>
              <a:t>Development, Improvement &amp; Evaluation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00400"/>
            <a:ext cx="1280160" cy="4114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An outbound voice assistant for real-estate lead engagement.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B7CBE0"/>
                </a:solidFill>
                <a:latin typeface="Aptos"/>
              </a:rPr>
              <a:t>Project status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65D"/>
                </a:solidFill>
                <a:latin typeface="Aptos"/>
              </a:rPr>
              <a:t>What the agent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749808"/>
            <a:ext cx="1051560" cy="4114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0515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F2A33"/>
                </a:solidFill>
                <a:latin typeface="Aptos"/>
              </a:rPr>
              <a:t>The AI Calling Agent handles customer enquiries, qualifies leads, answers project-related FAQs and supports site-visit scheduling.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96596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1965960"/>
            <a:ext cx="73152" cy="146304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222199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81BD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6060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Telephony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96596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9392" y="1965960"/>
            <a:ext cx="73152" cy="146304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22199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81B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6060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Speech recognition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6596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1965960"/>
            <a:ext cx="73152" cy="146304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222199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81BD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6060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Project-knowledge retrieval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365760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" y="3657600"/>
            <a:ext cx="73152" cy="146304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" y="391363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81B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2976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Response generation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9392" y="365760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79392" y="3657600"/>
            <a:ext cx="73152" cy="146304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5424" y="391363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81BD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42976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Speech synthesis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365760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19872" y="3657600"/>
            <a:ext cx="73152" cy="1463040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75904" y="391363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F81BD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429768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Stage-based conversation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62025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FFFFFF"/>
                </a:solidFill>
                <a:latin typeface="Aptos"/>
              </a:rPr>
              <a:t>AI Calling Agent   ·  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P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roject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S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ummary 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2  / 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65D"/>
                </a:solidFill>
                <a:latin typeface="Aptos"/>
              </a:rPr>
              <a:t>How the agent has been developed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749808"/>
            <a:ext cx="1051560" cy="4114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051560"/>
            <a:ext cx="112928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1051560"/>
            <a:ext cx="73152" cy="932688"/>
          </a:xfrm>
          <a:prstGeom prst="rect">
            <a:avLst/>
          </a:prstGeom>
          <a:solidFill>
            <a:srgbClr val="365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161288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LLM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179576"/>
            <a:ext cx="758952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Started with local and open models such as TinyLlama and Qwen, then hosted models including Sarvam AI, DeepSeek and Claude for development and comparison.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075688"/>
            <a:ext cx="112928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" y="2075688"/>
            <a:ext cx="73152" cy="932688"/>
          </a:xfrm>
          <a:prstGeom prst="rect">
            <a:avLst/>
          </a:prstGeom>
          <a:solidFill>
            <a:srgbClr val="365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185416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Project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203704"/>
            <a:ext cx="758952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Brochure content is split into text chunks. Relevant information is retrieved so answers stay grounded in approved project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3099816"/>
            <a:ext cx="112928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" y="3099816"/>
            <a:ext cx="73152" cy="932688"/>
          </a:xfrm>
          <a:prstGeom prst="rect">
            <a:avLst/>
          </a:prstGeom>
          <a:solidFill>
            <a:srgbClr val="365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209544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Conversation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227832"/>
            <a:ext cx="758952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Stages cover greeting, qualification, FAQ handling, site-visit proposal, slot confirmation and closure. Recent fixes address context handling and site-visit sequencing.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4123944"/>
            <a:ext cx="112928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" y="4123944"/>
            <a:ext cx="73152" cy="932688"/>
          </a:xfrm>
          <a:prstGeom prst="rect">
            <a:avLst/>
          </a:prstGeom>
          <a:solidFill>
            <a:srgbClr val="365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233672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Application improvements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251960"/>
            <a:ext cx="758952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Prompts, retrieval, fallback responses, response handling, state logic and configuration were refined from observed errors and test conversations.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5148072"/>
            <a:ext cx="112928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" y="5148072"/>
            <a:ext cx="73152" cy="932688"/>
          </a:xfrm>
          <a:prstGeom prst="rect">
            <a:avLst/>
          </a:prstGeom>
          <a:solidFill>
            <a:srgbClr val="365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Evaluation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276088"/>
            <a:ext cx="7589520" cy="6766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A separate, repeatable framework compares model outputs with expected intents, actions and outcomes, and tracks factuality, context, stage, latency and token usage.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62025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AI Calling Agent   ·   Internal project summary   ·   29 September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3  / 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65D"/>
                </a:solidFill>
                <a:latin typeface="Aptos"/>
              </a:rPr>
              <a:t>Recent voice and speech-recognition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749808"/>
            <a:ext cx="1051560" cy="4114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841248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Aptos"/>
              </a:rPr>
              <a:t>Configuration of the speech layer. The language model was not retrained.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417320"/>
            <a:ext cx="36576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" y="1417320"/>
            <a:ext cx="3657600" cy="7315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24612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Changed from Amazon Polly standard voice Polly.Aditi to Polly.Kajal-Neural, a neural voice chosen for more natural Indian-English calls.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417320"/>
            <a:ext cx="36576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9392" y="1417320"/>
            <a:ext cx="3657600" cy="7315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64592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Speech recognition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24612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The early prototype used faster-whisper. The live Twilio call now uses Twilio Gather: model experimental_utterances, language en-IN. This is not Whisper or Sarvam speech-to-text.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417320"/>
            <a:ext cx="365760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1417320"/>
            <a:ext cx="3657600" cy="73152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64592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Spoken replies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48840"/>
            <a:ext cx="3246120" cy="1920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A33"/>
                </a:solidFill>
                <a:latin typeface="Aptos"/>
              </a:rPr>
              <a:t>The calling flow uses Sarvam sarvam-105b-conversations to generate the agent’s spoken responses.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4480560"/>
            <a:ext cx="112928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553212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Aptos"/>
              </a:rPr>
              <a:t>Hands-on test: the voice sounded improved and the user’s responses were recognised well. This is an initial observation, not a statistically established result.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662025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FFFFFF"/>
                </a:solidFill>
                <a:latin typeface="Aptos"/>
              </a:rPr>
              <a:t>AI Calling Agent   ·  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P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roject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S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ummary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4  / 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65D"/>
                </a:solidFill>
                <a:latin typeface="Aptos"/>
              </a:rPr>
              <a:t>Training versus system optimisation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749808"/>
            <a:ext cx="1051560" cy="4114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1325880"/>
            <a:ext cx="11292840" cy="1554480"/>
          </a:xfrm>
          <a:prstGeom prst="roundRect">
            <a:avLst>
              <a:gd name="adj" fmla="val 8000"/>
            </a:avLst>
          </a:prstGeom>
          <a:solidFill>
            <a:srgbClr val="17365D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5544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This is application development and evaluation-driven optimisation.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84831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dirty="0">
                <a:solidFill>
                  <a:srgbClr val="D6E6F5"/>
                </a:solidFill>
                <a:latin typeface="Aptos"/>
              </a:rPr>
              <a:t>It is not training a foundation model from scratch.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31089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Where the improvements have come from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361188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390448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Model selection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361188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390448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Prompt 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361188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2" y="390448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Retrieval from the brochure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484632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513892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Conversation-state logic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484632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2" y="513892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Telephony and speech configuration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4846320"/>
            <a:ext cx="36118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2" y="5138928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Application-level changes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62025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FFFFFF"/>
                </a:solidFill>
                <a:latin typeface="Aptos"/>
              </a:rPr>
              <a:t>AI Calling Agent   ·  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P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roject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S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ummary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5  / 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11155680" cy="4206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65D"/>
                </a:solidFill>
                <a:latin typeface="Aptos"/>
              </a:rPr>
              <a:t>Evaluation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749808"/>
            <a:ext cx="1051560" cy="4114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841248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400" b="0" dirty="0">
              <a:solidFill>
                <a:srgbClr val="5C6B7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912" y="1417320"/>
            <a:ext cx="27614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1600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365D"/>
                </a:solidFill>
                <a:latin typeface="Aptos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46888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Aptos"/>
              </a:rPr>
              <a:t>Unique model-evaluation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417320"/>
            <a:ext cx="27614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1600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365D"/>
                </a:solidFill>
                <a:latin typeface="Aptos"/>
              </a:rPr>
              <a:t>131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46888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Aptos"/>
              </a:rPr>
              <a:t>Customer turns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17320"/>
            <a:ext cx="27614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600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365D"/>
                </a:solidFill>
                <a:latin typeface="Aptos"/>
              </a:rPr>
              <a:t>520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46888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Aptos"/>
              </a:rPr>
              <a:t>Model-turn evaluations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7152" y="1417320"/>
            <a:ext cx="2761488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54312" y="16002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7365D"/>
                </a:solidFill>
                <a:latin typeface="Aptos"/>
              </a:rPr>
              <a:t>149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0032" y="2468880"/>
            <a:ext cx="2395728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Aptos"/>
              </a:rPr>
              <a:t>Framework tests, kept separate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3611880"/>
            <a:ext cx="553212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79476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Of the 520 evaluations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9768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65F91"/>
                </a:solidFill>
                <a:latin typeface="Aptos"/>
              </a:rPr>
              <a:t>412 labelled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0060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65F91"/>
                </a:solidFill>
                <a:latin typeface="Aptos"/>
              </a:rPr>
              <a:t>108 unlabelled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9496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sz="1300" b="0" dirty="0">
              <a:solidFill>
                <a:srgbClr val="5C6B7A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72200" y="3611880"/>
            <a:ext cx="5559552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3E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37947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What is measured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51960"/>
            <a:ext cx="5074920" cy="1783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F2A33"/>
                </a:solidFill>
                <a:latin typeface="Aptos"/>
              </a:rPr>
              <a:t>Intent and action accuracy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3"/>
                </a:solidFill>
                <a:latin typeface="Aptos"/>
              </a:rPr>
              <a:t>Factual accuracy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3"/>
                </a:solidFill>
                <a:latin typeface="Aptos"/>
              </a:rPr>
              <a:t>Grounded-response rate and unsupported claims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3"/>
                </a:solidFill>
                <a:latin typeface="Aptos"/>
              </a:rPr>
              <a:t>Context and stage accuracy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3"/>
                </a:solidFill>
                <a:latin typeface="Aptos"/>
              </a:rPr>
              <a:t>Latency, token usage and language behaviour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6620256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FFFFFF"/>
                </a:solidFill>
                <a:latin typeface="Aptos"/>
              </a:rPr>
              <a:t>AI Calling Agent   ·  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P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roject </a:t>
            </a:r>
            <a:r>
              <a:rPr lang="en-US" sz="1100" dirty="0">
                <a:solidFill>
                  <a:srgbClr val="FFFFFF"/>
                </a:solidFill>
                <a:latin typeface="Aptos"/>
              </a:rPr>
              <a:t>S</a:t>
            </a:r>
            <a:r>
              <a:rPr sz="1100" b="0" dirty="0">
                <a:solidFill>
                  <a:srgbClr val="FFFFFF"/>
                </a:solidFill>
                <a:latin typeface="Aptos"/>
              </a:rPr>
              <a:t>ummary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6  /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477</Words>
  <Application>Microsoft Office PowerPoint</Application>
  <PresentationFormat>Widescreen</PresentationFormat>
  <Paragraphs>77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Calling Agent — Development, Improvement and Evaluation Summary</dc:title>
  <dc:subject>Internal project summary, 29 September 2026</dc:subject>
  <dc:creator/>
  <cp:keywords/>
  <dc:description>generated using python-pptx</dc:description>
  <cp:lastModifiedBy>Nishanth Bilimagga Hanumantha</cp:lastModifiedBy>
  <cp:revision>7</cp:revision>
  <dcterms:created xsi:type="dcterms:W3CDTF">2013-01-27T09:14:16Z</dcterms:created>
  <dcterms:modified xsi:type="dcterms:W3CDTF">2026-10-09T06:08:42Z</dcterms:modified>
  <cp:category/>
</cp:coreProperties>
</file>