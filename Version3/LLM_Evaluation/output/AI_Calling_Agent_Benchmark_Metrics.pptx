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92608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800" b="1">
                <a:solidFill>
                  <a:srgbClr val="17365D"/>
                </a:solidFill>
                <a:latin typeface="Aptos"/>
              </a:rPr>
              <a:t>Controlled English benchmark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804672"/>
            <a:ext cx="1051560" cy="41148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960120"/>
            <a:ext cx="1115568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500" b="0">
                <a:solidFill>
                  <a:srgbClr val="5C6B7A"/>
                </a:solidFill>
                <a:latin typeface="Aptos"/>
              </a:rPr>
              <a:t>Same customer sequence for every model. Twelve evaluated turns each, with no skipped evaluations.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8912" y="1554480"/>
          <a:ext cx="10744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777240"/>
                <a:gridCol w="1143000"/>
                <a:gridCol w="1143000"/>
                <a:gridCol w="1188720"/>
                <a:gridCol w="1325880"/>
                <a:gridCol w="2057400"/>
                <a:gridCol w="1417320"/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anchor="ctr" marL="73152" marR="73152" marT="54864" marB="54864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N</a:t>
                      </a:r>
                    </a:p>
                  </a:txBody>
                  <a:tcPr anchor="ctr" marL="73152" marR="73152" marT="54864" marB="54864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Intent</a:t>
                      </a:r>
                    </a:p>
                  </a:txBody>
                  <a:tcPr anchor="ctr" marL="73152" marR="73152" marT="54864" marB="54864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Action</a:t>
                      </a:r>
                    </a:p>
                  </a:txBody>
                  <a:tcPr anchor="ctr" marL="73152" marR="73152" marT="54864" marB="54864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Factual</a:t>
                      </a:r>
                    </a:p>
                  </a:txBody>
                  <a:tcPr anchor="ctr" marL="73152" marR="73152" marT="54864" marB="54864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Grounded</a:t>
                      </a:r>
                    </a:p>
                  </a:txBody>
                  <a:tcPr anchor="ctr" marL="73152" marR="73152" marT="54864" marB="54864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Unsupported claims</a:t>
                      </a:r>
                    </a:p>
                  </a:txBody>
                  <a:tcPr anchor="ctr" marL="73152" marR="73152" marT="54864" marB="54864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Avg latency</a:t>
                      </a:r>
                    </a:p>
                  </a:txBody>
                  <a:tcPr anchor="ctr" marL="73152" marR="73152" marT="54864" marB="54864">
                    <a:solidFill>
                      <a:srgbClr val="17365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F2A33"/>
                          </a:solidFill>
                          <a:latin typeface="Aptos"/>
                        </a:rPr>
                        <a:t>Sarvam</a:t>
                      </a:r>
                    </a:p>
                  </a:txBody>
                  <a:tcPr anchor="ctr"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A33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 anchor="ctr"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A33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anchor="ctr"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A33"/>
                          </a:solidFill>
                          <a:latin typeface="Aptos"/>
                        </a:rPr>
                        <a:t>89%</a:t>
                      </a:r>
                    </a:p>
                  </a:txBody>
                  <a:tcPr anchor="ctr"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A33"/>
                          </a:solidFill>
                          <a:latin typeface="Aptos"/>
                        </a:rPr>
                        <a:t>90%</a:t>
                      </a:r>
                    </a:p>
                  </a:txBody>
                  <a:tcPr anchor="ctr"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A33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anchor="ctr"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A33"/>
                          </a:solidFill>
                          <a:latin typeface="Aptos"/>
                        </a:rPr>
                        <a:t>0%</a:t>
                      </a:r>
                    </a:p>
                  </a:txBody>
                  <a:tcPr anchor="ctr"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A33"/>
                          </a:solidFill>
                          <a:latin typeface="Aptos"/>
                        </a:rPr>
                        <a:t>8.46 s</a:t>
                      </a:r>
                    </a:p>
                  </a:txBody>
                  <a:tcPr anchor="ctr" marL="73152" marR="73152" marT="54864" marB="54864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F2A33"/>
                          </a:solidFill>
                          <a:latin typeface="Aptos"/>
                        </a:rPr>
                        <a:t>DeepSeek</a:t>
                      </a:r>
                    </a:p>
                  </a:txBody>
                  <a:tcPr anchor="ctr" marL="73152" marR="73152" marT="54864" marB="54864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A33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 anchor="ctr" marL="73152" marR="73152" marT="54864" marB="54864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A33"/>
                          </a:solidFill>
                          <a:latin typeface="Aptos"/>
                        </a:rPr>
                        <a:t>89%</a:t>
                      </a:r>
                    </a:p>
                  </a:txBody>
                  <a:tcPr anchor="ctr" marL="73152" marR="73152" marT="54864" marB="54864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A33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anchor="ctr" marL="73152" marR="73152" marT="54864" marB="54864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A33"/>
                          </a:solidFill>
                          <a:latin typeface="Aptos"/>
                        </a:rPr>
                        <a:t>80%</a:t>
                      </a:r>
                    </a:p>
                  </a:txBody>
                  <a:tcPr anchor="ctr" marL="73152" marR="73152" marT="54864" marB="54864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A33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anchor="ctr" marL="73152" marR="73152" marT="54864" marB="54864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A33"/>
                          </a:solidFill>
                          <a:latin typeface="Aptos"/>
                        </a:rPr>
                        <a:t>0%</a:t>
                      </a:r>
                    </a:p>
                  </a:txBody>
                  <a:tcPr anchor="ctr" marL="73152" marR="73152" marT="54864" marB="54864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A33"/>
                          </a:solidFill>
                          <a:latin typeface="Aptos"/>
                        </a:rPr>
                        <a:t>8.98 s</a:t>
                      </a:r>
                    </a:p>
                  </a:txBody>
                  <a:tcPr anchor="ctr" marL="73152" marR="73152" marT="54864" marB="54864">
                    <a:solidFill>
                      <a:srgbClr val="F4F8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F2A33"/>
                          </a:solidFill>
                          <a:latin typeface="Aptos"/>
                        </a:rPr>
                        <a:t>Claude Sonnet</a:t>
                      </a:r>
                    </a:p>
                  </a:txBody>
                  <a:tcPr anchor="ctr"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A33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 anchor="ctr"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A33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anchor="ctr"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A33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anchor="ctr"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A33"/>
                          </a:solidFill>
                          <a:latin typeface="Aptos"/>
                        </a:rPr>
                        <a:t>90%</a:t>
                      </a:r>
                    </a:p>
                  </a:txBody>
                  <a:tcPr anchor="ctr"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A33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anchor="ctr"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A33"/>
                          </a:solidFill>
                          <a:latin typeface="Aptos"/>
                        </a:rPr>
                        <a:t>0%</a:t>
                      </a:r>
                    </a:p>
                  </a:txBody>
                  <a:tcPr anchor="ctr"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A33"/>
                          </a:solidFill>
                          <a:latin typeface="Aptos"/>
                        </a:rPr>
                        <a:t>12.80 s</a:t>
                      </a:r>
                    </a:p>
                  </a:txBody>
                  <a:tcPr anchor="ctr" marL="73152" marR="73152" marT="54864" marB="54864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F2A33"/>
                          </a:solidFill>
                          <a:latin typeface="Aptos"/>
                        </a:rPr>
                        <a:t>Claude Opus</a:t>
                      </a:r>
                    </a:p>
                  </a:txBody>
                  <a:tcPr anchor="ctr" marL="73152" marR="73152" marT="54864" marB="54864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A33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 anchor="ctr" marL="73152" marR="73152" marT="54864" marB="54864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A33"/>
                          </a:solidFill>
                          <a:latin typeface="Aptos"/>
                        </a:rPr>
                        <a:t>89%</a:t>
                      </a:r>
                    </a:p>
                  </a:txBody>
                  <a:tcPr anchor="ctr" marL="73152" marR="73152" marT="54864" marB="54864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A33"/>
                          </a:solidFill>
                          <a:latin typeface="Aptos"/>
                        </a:rPr>
                        <a:t>89%</a:t>
                      </a:r>
                    </a:p>
                  </a:txBody>
                  <a:tcPr anchor="ctr" marL="73152" marR="73152" marT="54864" marB="54864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A33"/>
                          </a:solidFill>
                          <a:latin typeface="Aptos"/>
                        </a:rPr>
                        <a:t>90%</a:t>
                      </a:r>
                    </a:p>
                  </a:txBody>
                  <a:tcPr anchor="ctr" marL="73152" marR="73152" marT="54864" marB="54864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A33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anchor="ctr" marL="73152" marR="73152" marT="54864" marB="54864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A33"/>
                          </a:solidFill>
                          <a:latin typeface="Aptos"/>
                        </a:rPr>
                        <a:t>0%</a:t>
                      </a:r>
                    </a:p>
                  </a:txBody>
                  <a:tcPr anchor="ctr" marL="73152" marR="73152" marT="54864" marB="54864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A33"/>
                          </a:solidFill>
                          <a:latin typeface="Aptos"/>
                        </a:rPr>
                        <a:t>10.73 s</a:t>
                      </a:r>
                    </a:p>
                  </a:txBody>
                  <a:tcPr anchor="ctr" marL="73152" marR="73152" marT="54864" marB="54864"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166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500" b="0">
                <a:solidFill>
                  <a:srgbClr val="1F2A33"/>
                </a:solidFill>
                <a:latin typeface="Aptos"/>
              </a:rPr>
              <a:t>Grounded responses are 100% and unsupported claims are 0% for every model. Average latency is model response time on this benchmark. These figures apply only to the tested scenarios.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6294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AI Calling Agent    ·    Project Summary    ·    29 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Controlled English benchmark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