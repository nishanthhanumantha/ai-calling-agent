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K8T2pM8WR1rCl1pAj5I7-oEMjRB5bdj/view?usp=sharing" TargetMode="External"/><Relationship Id="rId7" Type="http://schemas.openxmlformats.org/officeDocument/2006/relationships/hyperlink" Target="https://drive.google.com/file/d/1GmwCzyJTHgUjkC203FagW4g05Yyh18uc/view?usp=sharing" TargetMode="External"/><Relationship Id="rId2" Type="http://schemas.openxmlformats.org/officeDocument/2006/relationships/hyperlink" Target="https://drive.google.com/file/d/1KKMskZHkPIG7p0qsMDLrTsuX0pu5Iopj/view?usp=shari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file/d/1xj7gMXEhjZ7uvtaSlr3ycC5r-Y9qjGd6/view?usp=sharing" TargetMode="External"/><Relationship Id="rId5" Type="http://schemas.openxmlformats.org/officeDocument/2006/relationships/hyperlink" Target="https://drive.google.com/file/d/1gM9ETZLr1sOkle-K7LoEs2_QN5C7c1P9/view?usp=sharing" TargetMode="External"/><Relationship Id="rId4" Type="http://schemas.openxmlformats.org/officeDocument/2006/relationships/hyperlink" Target="https://drive.google.com/file/d/1MAtNNYXqaDGtzZJkInKZ60v3El1vSCJo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4F81BD"/>
                </a:solidFill>
                <a:latin typeface="Aptos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ptos"/>
              </a:rPr>
              <a:t>AI Calling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D6E6F5"/>
                </a:solidFill>
                <a:latin typeface="Aptos"/>
              </a:rPr>
              <a:t>Development, Improvement &amp; Evaluation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12801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 outbound voice assistant for real-estate lead engagement.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B7CBE0"/>
                </a:solidFill>
                <a:latin typeface="Aptos"/>
              </a:rPr>
              <a:t>Project status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What the agent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0515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A33"/>
                </a:solidFill>
                <a:latin typeface="Aptos"/>
              </a:rPr>
              <a:t>The AI Calling Agent handles customer enquiries, qualifies leads, answers project-related FAQs and supports site-visit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659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96596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2219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Telephony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659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96596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2219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6060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Speech recognition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96596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2219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6060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Project-knowledge retrieval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6576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365760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3913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297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Response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36576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9392" y="365760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3913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4297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Speech synthesis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6576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19872" y="365760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75904" y="3913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297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Stage-based conversation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2  /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How the agent has been developed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51560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051560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61288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LLM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79576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Started with local and open models such as TinyLlama and Qwen, then hosted models including Sarvam AI, DeepSeek and Claude for development and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075688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2075688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85416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Project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03704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Brochure content is split into text chunks. Relevant information is retrieved so answers stay grounded in approved project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3099816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3099816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Conversation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227832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Stages cover greeting, qualification, FAQ handling, site-visit proposal, slot confirmation and closure. Recent fixes address context handling and site-visit sequencing.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123944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" y="4123944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33672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Application improvements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51960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1F2A33"/>
                </a:solidFill>
                <a:latin typeface="Aptos"/>
              </a:rPr>
              <a:t>Prompts, retrieval, fallback responses, response handling, state logic and configuration were refined from observed errors and test conversations.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5148072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" y="5148072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Evaluation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276088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A separate, repeatable framework compares model outputs with expected intents, actions and outcomes, and tracks factuality, context, stage, latency and token usage.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AI Calling Agent   ·   Internal project summary   ·   29 September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3  /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Recent voice and speech-recognition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Configuration of the speech layer. The language model was not retrained.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417320"/>
            <a:ext cx="3657600" cy="7315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Changed from Amazon Polly standard voice Polly.Aditi to Polly.Kajal-Neural, a neural voice chosen for more natural Indian-English 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1732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657600" cy="7315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Speech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The early prototype used faster-whisper. The live Twilio call now uses Twilio Gather: model experimental_utterances, language en-IN. This is not Whisper or Sarvam speech-to-text.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41732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417320"/>
            <a:ext cx="3657600" cy="7315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Spoken replies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The calling flow uses Sarvam sarvam-105b-conversations to generate the agent’s spoken responses.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480560"/>
            <a:ext cx="11292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553212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Hands-on test: the voice sounded improved and the user’s responses were recognised well. This is an initial observation, not a statistically established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4  / 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Training versus system optimisation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325880"/>
            <a:ext cx="11292840" cy="1554480"/>
          </a:xfrm>
          <a:prstGeom prst="roundRect">
            <a:avLst>
              <a:gd name="adj" fmla="val 8000"/>
            </a:avLst>
          </a:prstGeom>
          <a:solidFill>
            <a:srgbClr val="17365D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This is application development and evaluation-driven optimisation.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84831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D6E6F5"/>
                </a:solidFill>
                <a:latin typeface="Aptos"/>
              </a:rPr>
              <a:t>It is not training a foundation model from scratch.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1089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Where the improvements have come from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61188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39044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Model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61188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39044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Prompt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361188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39044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Retrieval from the brochure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484632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513892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Conversation-state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484632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513892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Telephony and speech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484632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513892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Application-level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5  /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17365D"/>
                </a:solidFill>
                <a:latin typeface="Aptos"/>
              </a:rPr>
              <a:t>Evaluation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Unique model-evaluation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131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Customer 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520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Model-turn evaluations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715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5431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149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Framework tests, kept separate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611880"/>
            <a:ext cx="5532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Of the 520 evaluations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5F91"/>
                </a:solidFill>
                <a:latin typeface="Aptos"/>
              </a:rPr>
              <a:t>412 labelled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5F91"/>
                </a:solidFill>
                <a:latin typeface="Aptos"/>
              </a:rPr>
              <a:t>108 unlabelled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949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2200" y="3611880"/>
            <a:ext cx="5559552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7947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What is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074920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Intent and action accuracy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Factual accuracy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Grounded-response rate and unsupported claims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Context and stage accuracy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Latency, token usage and language behaviour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6  /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8C56D-E1C2-7BB1-6A20-91B31316B063}"/>
              </a:ext>
            </a:extLst>
          </p:cNvPr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rgbClr val="17365D"/>
                </a:solidFill>
                <a:latin typeface="Aptos"/>
              </a:rPr>
              <a:t>Call Recordings Links</a:t>
            </a:r>
            <a:endParaRPr lang="en-US" sz="2600" b="1" dirty="0">
              <a:solidFill>
                <a:srgbClr val="17365D"/>
              </a:solidFill>
              <a:latin typeface="Apto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CCD6CC-7C56-8DDE-F4DD-561857A4E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860692"/>
              </p:ext>
            </p:extLst>
          </p:nvPr>
        </p:nvGraphicFramePr>
        <p:xfrm>
          <a:off x="1117600" y="1005840"/>
          <a:ext cx="9418320" cy="379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3520">
                  <a:extLst>
                    <a:ext uri="{9D8B030D-6E8A-4147-A177-3AD203B41FA5}">
                      <a16:colId xmlns:a16="http://schemas.microsoft.com/office/drawing/2014/main" val="398040628"/>
                    </a:ext>
                  </a:extLst>
                </a:gridCol>
                <a:gridCol w="5442481">
                  <a:extLst>
                    <a:ext uri="{9D8B030D-6E8A-4147-A177-3AD203B41FA5}">
                      <a16:colId xmlns:a16="http://schemas.microsoft.com/office/drawing/2014/main" val="884855696"/>
                    </a:ext>
                  </a:extLst>
                </a:gridCol>
                <a:gridCol w="3092319">
                  <a:extLst>
                    <a:ext uri="{9D8B030D-6E8A-4147-A177-3AD203B41FA5}">
                      <a16:colId xmlns:a16="http://schemas.microsoft.com/office/drawing/2014/main" val="1804278442"/>
                    </a:ext>
                  </a:extLst>
                </a:gridCol>
              </a:tblGrid>
              <a:tr h="29229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Call Type</a:t>
                      </a:r>
                      <a:endParaRPr lang="en-IN" sz="1000" b="1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100">
                          <a:effectLst/>
                        </a:rPr>
                        <a:t>Demo Recordings Link</a:t>
                      </a:r>
                      <a:endParaRPr lang="en-IN" sz="11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Remarks</a:t>
                      </a:r>
                      <a:endParaRPr lang="en-IN" sz="1000" b="1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744367108"/>
                  </a:ext>
                </a:extLst>
              </a:tr>
              <a:tr h="4946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Bad Call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u="sng" dirty="0">
                          <a:effectLst/>
                          <a:hlinkClick r:id="rId2"/>
                        </a:rPr>
                        <a:t>https://drive.google.com/file/d/1KKMskZHkPIG7p0qsMDLrTsuX0pu5Iopj/view?usp=sharing</a:t>
                      </a:r>
                      <a:endParaRPr lang="en-IN" sz="1000" u="sng" dirty="0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Initial Calls - Basic Call with project details given. 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213328912"/>
                  </a:ext>
                </a:extLst>
              </a:tr>
              <a:tr h="4946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Bad Call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u="sng">
                          <a:effectLst/>
                          <a:hlinkClick r:id="rId3"/>
                        </a:rPr>
                        <a:t>https://drive.google.com/file/d/1jK8T2pM8WR1rCl1pAj5I7-oEMjRB5bdj/view?usp=sharing</a:t>
                      </a:r>
                      <a:endParaRPr lang="en-IN" sz="10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Initial Calls - Basic Call with project details given. 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042899920"/>
                  </a:ext>
                </a:extLst>
              </a:tr>
              <a:tr h="2698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118417838"/>
                  </a:ext>
                </a:extLst>
              </a:tr>
              <a:tr h="4946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Average Call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u="sng">
                          <a:effectLst/>
                          <a:hlinkClick r:id="rId4"/>
                        </a:rPr>
                        <a:t>https://drive.google.com/file/d/1MAtNNYXqaDGtzZJkInKZ60v3El1vSCJo/view?usp=sharing</a:t>
                      </a:r>
                      <a:endParaRPr lang="en-IN" sz="10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Introduced RAG for project knowledge 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027390559"/>
                  </a:ext>
                </a:extLst>
              </a:tr>
              <a:tr h="4946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Average Call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u="sng" dirty="0">
                          <a:effectLst/>
                          <a:hlinkClick r:id="rId5"/>
                        </a:rPr>
                        <a:t>https://drive.google.com/file/d/1gM9ETZLr1sOkle-K7LoEs2_QN5C7c1P9/view?usp=sharing</a:t>
                      </a:r>
                      <a:endParaRPr lang="en-IN" sz="1000" u="sng" dirty="0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Introduced RAG for project knowledge 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929438059"/>
                  </a:ext>
                </a:extLst>
              </a:tr>
              <a:tr h="2698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64033389"/>
                  </a:ext>
                </a:extLst>
              </a:tr>
              <a:tr h="4946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Good Call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u="sng">
                          <a:effectLst/>
                          <a:hlinkClick r:id="rId6"/>
                        </a:rPr>
                        <a:t>https://drive.google.com/file/d/1xj7gMXEhjZ7uvtaSlr3ycC5r-Y9qjGd6/view?usp=sharing</a:t>
                      </a:r>
                      <a:endParaRPr lang="en-IN" sz="10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Improved Conversation flow and application improvements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388325681"/>
                  </a:ext>
                </a:extLst>
              </a:tr>
              <a:tr h="49465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>
                          <a:effectLst/>
                        </a:rPr>
                        <a:t>Good Call</a:t>
                      </a:r>
                      <a:endParaRPr lang="en-IN" sz="10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u="sng" dirty="0">
                          <a:effectLst/>
                          <a:hlinkClick r:id="rId7"/>
                        </a:rPr>
                        <a:t>https://drive.google.com/file/d/1GmwCzyJTHgUjkC203FagW4g05Yyh18uc/view?usp=sharing</a:t>
                      </a:r>
                      <a:endParaRPr lang="en-IN" sz="1000" u="sng" dirty="0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dirty="0">
                          <a:effectLst/>
                        </a:rPr>
                        <a:t>Improved Conversation flow and application improvements</a:t>
                      </a:r>
                      <a:endParaRPr lang="en-IN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2235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05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655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Calling Agent — Development, Improvement and Evaluation Summary</dc:title>
  <dc:subject>Internal project summary, 29 September 2026</dc:subject>
  <dc:creator/>
  <cp:keywords/>
  <dc:description>generated using python-pptx</dc:description>
  <cp:lastModifiedBy>Nishanth Bilimagga Hanumantha</cp:lastModifiedBy>
  <cp:revision>9</cp:revision>
  <dcterms:created xsi:type="dcterms:W3CDTF">2013-01-27T09:14:16Z</dcterms:created>
  <dcterms:modified xsi:type="dcterms:W3CDTF">2026-10-09T09:18:09Z</dcterms:modified>
  <cp:category/>
</cp:coreProperties>
</file>